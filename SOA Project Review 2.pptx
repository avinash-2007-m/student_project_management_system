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4" r:id="rId7"/>
    <p:sldId id="905" r:id="rId8"/>
    <p:sldId id="906" r:id="rId9"/>
    <p:sldId id="907" r:id="rId10"/>
    <p:sldId id="9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October 01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568185"/>
              </p:ext>
            </p:extLst>
          </p:nvPr>
        </p:nvGraphicFramePr>
        <p:xfrm>
          <a:off x="8193271" y="4898509"/>
          <a:ext cx="3702050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Venkata Avinash – 2420030458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Cherishma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Sana – 2420030319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Hemanth Sai – 2420030526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 Vishnu Vardhan - 2420030515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99228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E. Uma Shankari,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SOA Project Review-2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6" y="958204"/>
            <a:ext cx="107156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Project Tracking System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01 October 2026 	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60626" cy="4103602"/>
            <a:chOff x="1929643" y="1656655"/>
            <a:chExt cx="6760626" cy="410360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769805" y="3257433"/>
              <a:ext cx="3659354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90569" y="3811711"/>
              <a:ext cx="4374693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Project Architecture</a:t>
              </a:r>
              <a:endParaRPr lang="en-US" sz="100" b="1" dirty="0">
                <a:solidFill>
                  <a:prstClr val="white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70260" y="4291541"/>
              <a:ext cx="4529560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Methodology Adopted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378725" y="4771956"/>
              <a:ext cx="4774676" cy="4986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Project Design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798743" y="5302183"/>
              <a:ext cx="4891526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Technical Soundness of the Project</a:t>
              </a:r>
              <a:endParaRPr lang="en-US" sz="1600" b="1" dirty="0">
                <a:solidFill>
                  <a:prstClr val="white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119984" y="4661221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223846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85992" y="3702710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776354" y="3241259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516BB9-3CC4-55FF-C8C3-2BD38C9585E1}"/>
              </a:ext>
            </a:extLst>
          </p:cNvPr>
          <p:cNvSpPr txBox="1"/>
          <p:nvPr/>
        </p:nvSpPr>
        <p:spPr>
          <a:xfrm>
            <a:off x="304800" y="1531686"/>
            <a:ext cx="114250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Educational institutions often manage student projects using </a:t>
            </a:r>
            <a:r>
              <a:rPr lang="en-IN" b="1" dirty="0"/>
              <a:t>manual records, spreadsheets, emails, messaging applications, and disconnected systems</a:t>
            </a:r>
            <a:r>
              <a:rPr lang="en-IN" dirty="0"/>
              <a:t>. This makes it difficult for faculty to continuously monitor project progress, assign and track tasks, manage submissions, provide feedback, and identify projects that are falling behind schedule.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Students also face difficulties in keeping track of </a:t>
            </a:r>
            <a:r>
              <a:rPr lang="en-IN" b="1" dirty="0"/>
              <a:t>project requirements, assigned tasks, deadlines, submissions, and faculty feedback</a:t>
            </a:r>
            <a:r>
              <a:rPr lang="en-IN" dirty="0"/>
              <a:t> because project-related information is scattered across different platforms.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Therefore, there is a need for a </a:t>
            </a:r>
            <a:r>
              <a:rPr lang="en-IN" b="1" dirty="0"/>
              <a:t>centralized Student Project Tracking System</a:t>
            </a:r>
            <a:r>
              <a:rPr lang="en-IN" dirty="0"/>
              <a:t> that provides a single platform for students and faculty to manage and monitor the complete project lifecycle.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system should support </a:t>
            </a:r>
            <a:r>
              <a:rPr lang="en-IN" b="1" dirty="0"/>
              <a:t>project management, task tracking, submission management, feedback, notifications, and progress monitoring</a:t>
            </a:r>
            <a:r>
              <a:rPr lang="en-IN" dirty="0"/>
              <a:t> while using a </a:t>
            </a:r>
            <a:r>
              <a:rPr lang="en-IN" b="1" dirty="0"/>
              <a:t>Service-Oriented Architecture (SOA) and microservices-based approach</a:t>
            </a:r>
            <a:r>
              <a:rPr lang="en-IN" dirty="0"/>
              <a:t> to achieve scalability, modularity, maintainability, and fault isolation.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E01FD-E021-EC31-DFBA-6D5D6428C993}"/>
              </a:ext>
            </a:extLst>
          </p:cNvPr>
          <p:cNvSpPr txBox="1"/>
          <p:nvPr/>
        </p:nvSpPr>
        <p:spPr>
          <a:xfrm>
            <a:off x="1130710" y="61821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CEEE0-D533-2D98-75E6-F8F4815E3E39}"/>
              </a:ext>
            </a:extLst>
          </p:cNvPr>
          <p:cNvSpPr txBox="1"/>
          <p:nvPr/>
        </p:nvSpPr>
        <p:spPr>
          <a:xfrm>
            <a:off x="2694039" y="618212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98244-11D4-265C-53D3-62DF0E6E0201}"/>
              </a:ext>
            </a:extLst>
          </p:cNvPr>
          <p:cNvSpPr txBox="1"/>
          <p:nvPr/>
        </p:nvSpPr>
        <p:spPr>
          <a:xfrm>
            <a:off x="3048000" y="3182127"/>
            <a:ext cx="6096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0213" marR="0" lvl="0" indent="-342900" algn="l" defTabSz="457200" rtl="0" eaLnBrk="1" fontAlgn="auto" latinLnBrk="0" hangingPunct="1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Technical Soundness of the Project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456F177-9EE2-6680-A662-5242F2ED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FA0528-8971-E26B-6D72-A7E6C23E1A3F}"/>
              </a:ext>
            </a:extLst>
          </p:cNvPr>
          <p:cNvSpPr txBox="1"/>
          <p:nvPr/>
        </p:nvSpPr>
        <p:spPr>
          <a:xfrm>
            <a:off x="353962" y="1292033"/>
            <a:ext cx="111202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centralized web-based system</a:t>
            </a:r>
            <a:r>
              <a:rPr lang="en-IN" dirty="0"/>
              <a:t> for managing and tracking student projects.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enable students to </a:t>
            </a:r>
            <a:r>
              <a:rPr lang="en-IN" b="1" dirty="0"/>
              <a:t>create, update, and manage project details</a:t>
            </a:r>
            <a:r>
              <a:rPr lang="en-IN" dirty="0"/>
              <a:t> throughout the project lifecycle.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an efficient mechanism for </a:t>
            </a:r>
            <a:r>
              <a:rPr lang="en-IN" b="1" dirty="0"/>
              <a:t>assigning, tracking, and updating project tasks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enable students to </a:t>
            </a:r>
            <a:r>
              <a:rPr lang="en-IN" b="1" dirty="0"/>
              <a:t>upload project submissions</a:t>
            </a:r>
            <a:r>
              <a:rPr lang="en-IN" dirty="0"/>
              <a:t> and receive faculty feedback.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help faculty </a:t>
            </a:r>
            <a:r>
              <a:rPr lang="en-IN" b="1" dirty="0"/>
              <a:t>monitor project progress, deadlines, tasks, and submissions</a:t>
            </a:r>
            <a:r>
              <a:rPr lang="en-IN" dirty="0"/>
              <a:t> from a single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</a:t>
            </a:r>
            <a:r>
              <a:rPr lang="en-IN" b="1" dirty="0"/>
              <a:t>notifications</a:t>
            </a:r>
            <a:r>
              <a:rPr lang="en-IN" dirty="0"/>
              <a:t> for task assignments, approaching deadlines, submissions, and feedback.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improve </a:t>
            </a:r>
            <a:r>
              <a:rPr lang="en-IN" b="1" dirty="0"/>
              <a:t>communication and coordination between students and faculty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implement </a:t>
            </a:r>
            <a:r>
              <a:rPr lang="en-IN" b="1" dirty="0"/>
              <a:t>SOA and microservices architecture</a:t>
            </a:r>
            <a:r>
              <a:rPr lang="en-IN" dirty="0"/>
              <a:t> for modularity, scalability, and maintainability.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8652B-1675-C52F-A00E-21DE67D6173C}"/>
              </a:ext>
            </a:extLst>
          </p:cNvPr>
          <p:cNvSpPr txBox="1"/>
          <p:nvPr/>
        </p:nvSpPr>
        <p:spPr>
          <a:xfrm>
            <a:off x="1042219" y="62503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9FC20-9BC3-D597-B6C5-21577C43EF98}"/>
              </a:ext>
            </a:extLst>
          </p:cNvPr>
          <p:cNvSpPr txBox="1"/>
          <p:nvPr/>
        </p:nvSpPr>
        <p:spPr>
          <a:xfrm>
            <a:off x="2866104" y="626870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672A8C3-9606-536A-F09B-609D3C04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FE994C-0222-C819-C99D-EA1C03CB3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03" y="1661159"/>
            <a:ext cx="8917858" cy="4326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8DCE7-2F50-9D6B-9054-FE6409E5603B}"/>
              </a:ext>
            </a:extLst>
          </p:cNvPr>
          <p:cNvSpPr txBox="1"/>
          <p:nvPr/>
        </p:nvSpPr>
        <p:spPr>
          <a:xfrm>
            <a:off x="2905432" y="6583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1E4BE-7392-CD1B-9845-8FAC93498BB4}"/>
              </a:ext>
            </a:extLst>
          </p:cNvPr>
          <p:cNvSpPr txBox="1"/>
          <p:nvPr/>
        </p:nvSpPr>
        <p:spPr>
          <a:xfrm>
            <a:off x="953730" y="62058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6DB0F-2110-8AD9-C190-1D871F48E6C1}"/>
              </a:ext>
            </a:extLst>
          </p:cNvPr>
          <p:cNvSpPr txBox="1"/>
          <p:nvPr/>
        </p:nvSpPr>
        <p:spPr>
          <a:xfrm>
            <a:off x="3048000" y="62058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7D16D89-1573-3B0E-9E5C-27151184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4BE7D-DD9B-2A6C-914C-096E4A7A6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4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AAB1F1-B586-7DF6-759A-B37B71DE4266}"/>
              </a:ext>
            </a:extLst>
          </p:cNvPr>
          <p:cNvSpPr txBox="1"/>
          <p:nvPr/>
        </p:nvSpPr>
        <p:spPr>
          <a:xfrm>
            <a:off x="619431" y="422787"/>
            <a:ext cx="1107112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			</a:t>
            </a:r>
            <a:r>
              <a:rPr lang="en-IN" sz="3600" b="1" dirty="0"/>
              <a:t>Methodology Adopted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Requirement analysis was carried out to identify student and faculty project management needs.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was divided into independent microservices based on functionality.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REST APIs are used for communication between the frontend, gateway, and backend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Each service is developed and integrated with its respective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Testing includes service-level, API, integration, and complete system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Development follows the phases: </a:t>
            </a:r>
            <a:r>
              <a:rPr lang="en-IN" b="1" dirty="0"/>
              <a:t>Requirement Analysis → Design → Development → Integration → Testing → Deployment</a:t>
            </a:r>
            <a:r>
              <a:rPr lang="en-IN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90D40-32C0-F814-618C-8C8076E85997}"/>
              </a:ext>
            </a:extLst>
          </p:cNvPr>
          <p:cNvSpPr txBox="1"/>
          <p:nvPr/>
        </p:nvSpPr>
        <p:spPr>
          <a:xfrm>
            <a:off x="1042219" y="62503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8D35F-E225-4A4C-B2F4-BE526169340B}"/>
              </a:ext>
            </a:extLst>
          </p:cNvPr>
          <p:cNvSpPr txBox="1"/>
          <p:nvPr/>
        </p:nvSpPr>
        <p:spPr>
          <a:xfrm>
            <a:off x="2866104" y="626870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FA5BB8-4656-66AD-334F-2B043476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6704C12-CE15-E550-37D8-05D41C01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46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CA7C-C6AA-2245-0073-11D4F1F0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B679635-25EC-0A41-003E-72919356A1D1}"/>
              </a:ext>
            </a:extLst>
          </p:cNvPr>
          <p:cNvSpPr txBox="1"/>
          <p:nvPr/>
        </p:nvSpPr>
        <p:spPr>
          <a:xfrm>
            <a:off x="2728451" y="520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F1700-F79D-D0C1-1065-69533B44AB7C}"/>
              </a:ext>
            </a:extLst>
          </p:cNvPr>
          <p:cNvSpPr txBox="1"/>
          <p:nvPr/>
        </p:nvSpPr>
        <p:spPr>
          <a:xfrm>
            <a:off x="953730" y="62058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32CFA2-DE2B-65BE-087E-C713FC6C2B6B}"/>
              </a:ext>
            </a:extLst>
          </p:cNvPr>
          <p:cNvSpPr txBox="1"/>
          <p:nvPr/>
        </p:nvSpPr>
        <p:spPr>
          <a:xfrm>
            <a:off x="3048000" y="62058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67E97-16E8-E01D-E217-C09436C8F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88" b="5115"/>
          <a:stretch>
            <a:fillRect/>
          </a:stretch>
        </p:blipFill>
        <p:spPr>
          <a:xfrm>
            <a:off x="481780" y="782595"/>
            <a:ext cx="11061291" cy="52385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C82CB-5C35-98B5-67EE-38E0144CD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990C7EB-05E9-F00A-09DC-F9279DD2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190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A87D09-6567-F181-F3B6-237568B61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65" t="10896" r="968" b="51255"/>
          <a:stretch>
            <a:fillRect/>
          </a:stretch>
        </p:blipFill>
        <p:spPr>
          <a:xfrm>
            <a:off x="2866104" y="2201138"/>
            <a:ext cx="5894437" cy="2595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3EB03-7094-8B61-3CB8-1B8D61A84202}"/>
              </a:ext>
            </a:extLst>
          </p:cNvPr>
          <p:cNvSpPr txBox="1"/>
          <p:nvPr/>
        </p:nvSpPr>
        <p:spPr>
          <a:xfrm>
            <a:off x="1042219" y="62503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E25AB-9835-1377-6070-6C721A7B03B8}"/>
              </a:ext>
            </a:extLst>
          </p:cNvPr>
          <p:cNvSpPr txBox="1"/>
          <p:nvPr/>
        </p:nvSpPr>
        <p:spPr>
          <a:xfrm>
            <a:off x="2866104" y="626870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1F40E5-89E9-9616-8303-54CB054D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8D0A5A-A47B-31F3-BE59-1F06ABB3E9BA}"/>
              </a:ext>
            </a:extLst>
          </p:cNvPr>
          <p:cNvSpPr txBox="1"/>
          <p:nvPr/>
        </p:nvSpPr>
        <p:spPr>
          <a:xfrm>
            <a:off x="216310" y="436894"/>
            <a:ext cx="992074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		Technical Soundness of the Project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SOA and Microservices:</a:t>
            </a:r>
            <a:r>
              <a:rPr lang="en-IN" dirty="0"/>
              <a:t> Provides modular and independent service development.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REST APIs:</a:t>
            </a:r>
            <a:r>
              <a:rPr lang="en-IN" dirty="0"/>
              <a:t> Enable communication between clients and backend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Scalability:</a:t>
            </a:r>
            <a:r>
              <a:rPr lang="en-IN" dirty="0"/>
              <a:t> Individual services can be scaled based on system requirements.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Maintainability:</a:t>
            </a:r>
            <a:r>
              <a:rPr lang="en-IN" dirty="0"/>
              <a:t> Changes in one service can be made without affecting the complete system.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Fault Isolation:</a:t>
            </a:r>
            <a:r>
              <a:rPr lang="en-IN" dirty="0"/>
              <a:t> Failure in one service can be isolated from other services. 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E96CF6D-6293-B8A0-E9D7-6F9D4D47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1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9CB28-9F7B-036B-537B-2C4D0E72479B}"/>
              </a:ext>
            </a:extLst>
          </p:cNvPr>
          <p:cNvSpPr txBox="1"/>
          <p:nvPr/>
        </p:nvSpPr>
        <p:spPr>
          <a:xfrm>
            <a:off x="560439" y="640925"/>
            <a:ext cx="110711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			             Conclusion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proposed </a:t>
            </a:r>
            <a:r>
              <a:rPr lang="en-IN" b="1" dirty="0"/>
              <a:t>Student Project Tracking System</a:t>
            </a:r>
            <a:r>
              <a:rPr lang="en-IN" dirty="0"/>
              <a:t> provides a centralized platform for managing the complete student project lifecycle.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SOA and microservices architecture</a:t>
            </a:r>
            <a:r>
              <a:rPr lang="en-IN" dirty="0"/>
              <a:t> supports modularity, scalability, maintainability, and fault isolation.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REST APIs enable communication between the frontend and individual backend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methodology provides a structured approach from </a:t>
            </a:r>
            <a:r>
              <a:rPr lang="en-IN" b="1" dirty="0"/>
              <a:t>requirement analysis to testing and deployment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addresses major gaps such as fragmented communication, limited progress tracking, and manual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proposed design provides a strong foundation for </a:t>
            </a:r>
            <a:r>
              <a:rPr lang="en-IN" b="1" dirty="0"/>
              <a:t>implementation, integration, testing, and future deployment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5FC4B-1323-3F8F-0AFA-EA7B783A2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5002D-41BB-5D2D-970D-44552079D30C}"/>
              </a:ext>
            </a:extLst>
          </p:cNvPr>
          <p:cNvSpPr txBox="1"/>
          <p:nvPr/>
        </p:nvSpPr>
        <p:spPr>
          <a:xfrm>
            <a:off x="1042219" y="62503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90BB9-5DB4-ECCC-47B8-CC8FC8755C5F}"/>
              </a:ext>
            </a:extLst>
          </p:cNvPr>
          <p:cNvSpPr txBox="1"/>
          <p:nvPr/>
        </p:nvSpPr>
        <p:spPr>
          <a:xfrm>
            <a:off x="2866104" y="626870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FFE2DD1-81CF-35AA-057D-FB57695A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99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705</Words>
  <Application>Microsoft Office PowerPoint</Application>
  <PresentationFormat>Widescreen</PresentationFormat>
  <Paragraphs>146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VENKATA AVINASH M</cp:lastModifiedBy>
  <cp:revision>82</cp:revision>
  <dcterms:created xsi:type="dcterms:W3CDTF">2026-08-08T06:33:56Z</dcterms:created>
  <dcterms:modified xsi:type="dcterms:W3CDTF">2026-10-01T05:09:25Z</dcterms:modified>
</cp:coreProperties>
</file>